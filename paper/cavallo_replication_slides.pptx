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13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GSE 552  ·  Spring 2026  ·  Replication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Replicating Figure 1 from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74320" y="1463040"/>
            <a:ext cx="8595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Catastrophic Natural Disasters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 Economic Growth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74320" y="301752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Cavallo, Galiani, Noy &amp; Pantano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Review of Economics and Statistics, 95(5): 1549–1561  ·  2013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74320" y="4069080"/>
            <a:ext cx="4206240" cy="685800"/>
          </a:xfrm>
          <a:prstGeom prst="rect">
            <a:avLst/>
          </a:prstGeom>
          <a:solidFill>
            <a:srgbClr val="0D9488">
              <a:alpha val="25098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365760" y="416052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Ese Okitiakpe  ·  Cal Poly SLO  ·  June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The Research Question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Do catastrophic natural disasters cause lasting declines in GDP per capita?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20040" y="1920240"/>
            <a:ext cx="4160520" cy="2926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20040" y="1920240"/>
            <a:ext cx="416052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965960" y="2011680"/>
            <a:ext cx="822960" cy="82296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965960" y="20116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2926080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The Core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3364992"/>
            <a:ext cx="3886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Establishing a credible counterfactual for disaster-affected countries.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Without a control group, how do you know what would have happened to GDP if the disaster hadn't occurred?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754880" y="1920240"/>
            <a:ext cx="4160520" cy="2926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754880" y="1920240"/>
            <a:ext cx="416052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400800" y="2011680"/>
            <a:ext cx="822960" cy="82296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400800" y="20116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892040" y="2926080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Paper's Contribution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892040" y="3364992"/>
            <a:ext cx="3886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 the synthetic control method construct a weighted average of unaffected countries whose pre-disaster GDP path closely matches the treated country.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Exploit the fact that disaster timing is exogenous.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Estimation Technique: Synthetic Control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20040" y="960120"/>
            <a:ext cx="8503920" cy="100584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ᴺᵢₜ  =  δₜ  +  θₜZᵢ  +  λₜμᵢ  +  εᵢₜ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57200" y="15727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Factor model for counterfactual GDP per capita  (Eq. 4, Abadie, Diamond &amp; Hainmueller 2010)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320040" y="2103120"/>
            <a:ext cx="1280160" cy="548640"/>
          </a:xfrm>
          <a:prstGeom prst="rect">
            <a:avLst/>
          </a:prstGeom>
          <a:solidFill>
            <a:srgbClr val="0D9488">
              <a:alpha val="2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320040" y="210312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Yᴺᵢₜ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737360" y="214884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Counterfactual GDP per capita country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would have had without the disaster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20040" y="2816352"/>
            <a:ext cx="1280160" cy="548640"/>
          </a:xfrm>
          <a:prstGeom prst="rect">
            <a:avLst/>
          </a:prstGeom>
          <a:solidFill>
            <a:srgbClr val="0D9488">
              <a:alpha val="2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20040" y="2816352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Zᵢ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737360" y="286207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Observed predictors: trade openness, capital stock, population, education, latitude, institutions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20040" y="3529584"/>
            <a:ext cx="1280160" cy="548640"/>
          </a:xfrm>
          <a:prstGeom prst="rect">
            <a:avLst/>
          </a:prstGeom>
          <a:solidFill>
            <a:srgbClr val="0D9488">
              <a:alpha val="2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320040" y="3529584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λₜμᵢ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737360" y="3575304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Unobserved time-varying confounders the key advantage over fixed-effects / DiD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20040" y="4242816"/>
            <a:ext cx="1280160" cy="548640"/>
          </a:xfrm>
          <a:prstGeom prst="rect">
            <a:avLst/>
          </a:prstGeom>
          <a:solidFill>
            <a:srgbClr val="0D9488">
              <a:alpha val="2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320040" y="4242816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εᵢₜ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737360" y="4288536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Transitory GDP shock with zero mean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Why Synthetic Control?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Standard panel regression requires many treated units — but truly catastrophic disasters are extremely rare.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228600" y="1737360"/>
            <a:ext cx="205740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228600" y="1737360"/>
            <a:ext cx="2057400" cy="7315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841248" y="1874520"/>
            <a:ext cx="822960" cy="82296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841248" y="187452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320040" y="2834640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Cross-section 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320040" y="3401568"/>
            <a:ext cx="18745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Biased poor countries face larger disasters AND grow more slowly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2423160" y="1737360"/>
            <a:ext cx="205740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2423160" y="1737360"/>
            <a:ext cx="2057400" cy="7315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3035808" y="1874520"/>
            <a:ext cx="822960" cy="82296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3035808" y="187452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2514600" y="2834640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Panel Fixed Effects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2514600" y="3401568"/>
            <a:ext cx="18745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Assumes constant effect of unobservables over time too restrictive for long-run growth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617720" y="1737360"/>
            <a:ext cx="205740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617720" y="1737360"/>
            <a:ext cx="2057400" cy="7315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5230368" y="1874520"/>
            <a:ext cx="822960" cy="82296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230368" y="187452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709160" y="2834640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Diff-in-Differences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709160" y="3401568"/>
            <a:ext cx="18745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Needs parallel pre-trends and many treated units violated here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812280" y="1737360"/>
            <a:ext cx="205740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812280" y="1737360"/>
            <a:ext cx="20574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7424928" y="1874520"/>
            <a:ext cx="822960" cy="82296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7424928" y="187452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903720" y="2834640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Synthetic Control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903720" y="3401568"/>
            <a:ext cx="18745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Allows time-varying unobserved confounders. Works with a single treated unit. Timing of disasters is exogenous.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The Data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20040" y="960120"/>
            <a:ext cx="2011680" cy="475488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393192" y="96012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331720" y="960120"/>
            <a:ext cx="4937760" cy="475488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2404872" y="960120"/>
            <a:ext cx="4846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7269480" y="960120"/>
            <a:ext cx="1828800" cy="475488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7342632" y="96012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20040" y="1435608"/>
            <a:ext cx="201168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393192" y="143560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2331720" y="1435608"/>
            <a:ext cx="493776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2404872" y="1435608"/>
            <a:ext cx="4846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EM-DAT — Centre for Research on the Epidemiology of Disasters (CRED), Louvain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269480" y="1435608"/>
            <a:ext cx="182880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7342632" y="143560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20040" y="1911096"/>
            <a:ext cx="2011680" cy="47548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393192" y="1911096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Period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2331720" y="1911096"/>
            <a:ext cx="4937760" cy="47548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2404872" y="1911096"/>
            <a:ext cx="4846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Disaster events worldwide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269480" y="1911096"/>
            <a:ext cx="1828800" cy="47548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7342632" y="1911096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1970 – 2008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20040" y="2386584"/>
            <a:ext cx="201168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393192" y="2386584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Countries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2331720" y="2386584"/>
            <a:ext cx="493776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2404872" y="2386584"/>
            <a:ext cx="4846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Full coverage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269480" y="2386584"/>
            <a:ext cx="182880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7342632" y="238658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196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20040" y="2862072"/>
            <a:ext cx="2011680" cy="47548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393192" y="2862072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Total 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2331720" y="2862072"/>
            <a:ext cx="4937760" cy="47548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2404872" y="2862072"/>
            <a:ext cx="4846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Earthquakes, storms, floods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7269480" y="2862072"/>
            <a:ext cx="1828800" cy="47548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7342632" y="2862072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6,530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20040" y="3337560"/>
            <a:ext cx="201168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393192" y="333756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Key variable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2331720" y="3337560"/>
            <a:ext cx="493776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2404872" y="3337560"/>
            <a:ext cx="4846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People killed ÷ country population (killed_pop)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7269480" y="3337560"/>
            <a:ext cx="182880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7342632" y="333756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Normalized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20040" y="3813048"/>
            <a:ext cx="2011680" cy="47548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393192" y="381304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Large event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2331720" y="3813048"/>
            <a:ext cx="4937760" cy="47548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2404872" y="3813048"/>
            <a:ext cx="4846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killed_pop &gt; world pooled mean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269480" y="3813048"/>
            <a:ext cx="1828800" cy="47548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7342632" y="381304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Binary flag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20040" y="4288536"/>
            <a:ext cx="201168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93192" y="4288536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 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331720" y="4288536"/>
            <a:ext cx="493776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2404872" y="4288536"/>
            <a:ext cx="4846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Harvard Dataverse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269480" y="4288536"/>
            <a:ext cx="182880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342632" y="4288536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doi:10.7910/DVN/26717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65425" y="4764025"/>
            <a:ext cx="85038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Treatment variable: occurrence of a large natural disaster (binary)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Outcome variable: real GDP per capita (PPP, World Bank WDI)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 What I Replicated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65760" y="9144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Figure 1 — Increasing Prevalence of Natural Disasters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20040" y="1463040"/>
            <a:ext cx="4114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figure plots two annual series from 1970 to 2007:</a:t>
            </a:r>
            <a:b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① 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Total recorded natural disaster events (left axis)</a:t>
            </a:r>
            <a:b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② 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Large events those whose intensity (killed/pop) exceeds the world pooled mean (right axis)</a:t>
            </a:r>
            <a:b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Replication tool: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 — preprocess.R + analysis.R → output/figures/fig1.png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5850" y="1061215"/>
            <a:ext cx="4343398" cy="3840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8" title="fig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5850" y="1061225"/>
            <a:ext cx="4343400" cy="384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 Replication Results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445" y="1033275"/>
            <a:ext cx="502920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/>
          <p:nvPr/>
        </p:nvSpPr>
        <p:spPr>
          <a:xfrm>
            <a:off x="5486400" y="960120"/>
            <a:ext cx="333756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5486400" y="960120"/>
            <a:ext cx="82296" cy="11430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5669280" y="1033272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66 → 342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669280" y="1527048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events per year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1970 to 2007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486400" y="2286000"/>
            <a:ext cx="333756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5486400" y="2286000"/>
            <a:ext cx="82296" cy="11430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5669280" y="2359152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Stable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669280" y="2852928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Large events — 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upward trend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486400" y="3611880"/>
            <a:ext cx="333756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5486400" y="3611880"/>
            <a:ext cx="82296" cy="11430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5669280" y="3685032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✓ Match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669280" y="4178808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Qualitative result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identical to paper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9" title="fig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450" y="1033275"/>
            <a:ext cx="5029198" cy="393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8.  What the Results Mean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Plain-English Interpretation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274320" y="1463040"/>
            <a:ext cx="457200" cy="4572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274320" y="1463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868680" y="1417320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The disaster count increase is a recording artifact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868680" y="1764792"/>
            <a:ext cx="7955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upward trend in total events is driven by better reporting of minor events, not more catastrophes. Truly large disasters have not become more frequent.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274320" y="2359152"/>
            <a:ext cx="457200" cy="4572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274320" y="23591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868680" y="231343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Large disasters are extremely rare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868680" y="2660904"/>
            <a:ext cx="7955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Only 4 events in 1970–2000 exceed the P99 threshold this low count directly motivates using synthetic control rather than regression, which needs many treated units.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274320" y="3255264"/>
            <a:ext cx="457200" cy="4572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274320" y="32552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868680" y="3209544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Economic magnitude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868680" y="3557016"/>
            <a:ext cx="7955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Among P99 disasters followed by political revolution (Nicaragua 1972, Iran 1978), GDP per capita was ~10% lower than at disaster time after 10 years, vs ~18% higher in the counterfactual.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274320" y="4151376"/>
            <a:ext cx="457200" cy="4572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274320" y="41513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868680" y="4105656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Without political revolution: no lasting GDP effect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868680" y="4453128"/>
            <a:ext cx="7955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This is the paper's headline finding natural disasters alone, even catastrophic ones, do not significantly damage long-run growth.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9.  Replication Challenges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228600" y="960120"/>
            <a:ext cx="42519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228600" y="960120"/>
            <a:ext cx="4251960" cy="640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365760" y="1069848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⚙  Software dependency failure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365760" y="1463040"/>
            <a:ext cx="3977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synth package for Stata could not install on Windows 64-bit — missing synthopt.win64a plugin. The main synthetic control figures (3, 9, 10) could not be reproduced in Stata.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4709160" y="960120"/>
            <a:ext cx="42519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4709160" y="960120"/>
            <a:ext cx="4251960" cy="64008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4846320" y="1069848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🔒  Proprietary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4846320" y="1463040"/>
            <a:ext cx="3977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Sovereign bond spread data used in related analyses requires Bloomberg access. Code being public is not sufficient for reproducibility when underlying data is paywalled.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228600" y="2880360"/>
            <a:ext cx="42519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228600" y="2880360"/>
            <a:ext cx="4251960" cy="64008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365760" y="2990088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⏱  Computational cost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365760" y="3383280"/>
            <a:ext cx="3977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Authors' README warns of ~4 hours of runtime for the synthetic control estimation. Matching each treated country to a large donor pool is computationally intensive.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4709160" y="2880360"/>
            <a:ext cx="42519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4709160" y="2880360"/>
            <a:ext cx="4251960" cy="64008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4846320" y="2990088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✓  What worked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846320" y="3383280"/>
            <a:ext cx="3977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Figure 1 replicated cleanly in R using publicly available EM-DAT data and the authors' Harvard Dataverse package. The descriptive result is fully transparent.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137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10.  Conclusion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274320" y="9601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1188720" y="960120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Disaster count growth ≠ catastrophe growth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1188720" y="1362456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Improved reporting explains the trend the paper's Figure 1 shows this clearly and motivated the entire synthetic control design.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12"/>
          <p:cNvCxnSpPr/>
          <p:nvPr/>
        </p:nvCxnSpPr>
        <p:spPr>
          <a:xfrm>
            <a:off x="274320" y="1965960"/>
            <a:ext cx="8595360" cy="0"/>
          </a:xfrm>
          <a:prstGeom prst="straightConnector1">
            <a:avLst/>
          </a:prstGeom>
          <a:noFill/>
          <a:ln cap="flat" cmpd="sng" w="9525">
            <a:solidFill>
              <a:srgbClr val="1E3A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2"/>
          <p:cNvSpPr/>
          <p:nvPr/>
        </p:nvSpPr>
        <p:spPr>
          <a:xfrm>
            <a:off x="274320" y="22860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1188720" y="2286000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Natural disasters alone don't harm long-run GDP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1188720" y="2688336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Only P99 events followed by political revolution (Nicaragua, Iran) show lasting damage. The disaster is not the cause — the political instability is.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2"/>
          <p:cNvCxnSpPr/>
          <p:nvPr/>
        </p:nvCxnSpPr>
        <p:spPr>
          <a:xfrm>
            <a:off x="274320" y="3291840"/>
            <a:ext cx="8595360" cy="0"/>
          </a:xfrm>
          <a:prstGeom prst="straightConnector1">
            <a:avLst/>
          </a:prstGeom>
          <a:noFill/>
          <a:ln cap="flat" cmpd="sng" w="9525">
            <a:solidFill>
              <a:srgbClr val="1E3A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12"/>
          <p:cNvSpPr/>
          <p:nvPr/>
        </p:nvSpPr>
        <p:spPr>
          <a:xfrm>
            <a:off x="274320" y="36118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1188720" y="3611880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Reproducibility is harder than it looks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1188720" y="4014216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Public code + public data is the floor, not the ceiling. Software compatibility, OS-specific plugins, and compute time are underappreciated barriers.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Cavallo, Galiani, Noy &amp; Pantano (2013)  ·  Ese Okitiakpe  ·  Cal Poly SLO, June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